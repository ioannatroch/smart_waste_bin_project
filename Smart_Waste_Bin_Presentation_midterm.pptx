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54"/>
  </p:normalViewPr>
  <p:slideViewPr>
    <p:cSldViewPr snapToGrid="0" snapToObjects="1">
      <p:cViewPr varScale="1">
        <p:scale>
          <a:sx n="104" d="100"/>
          <a:sy n="104" d="100"/>
        </p:scale>
        <p:origin x="16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96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3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1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0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1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9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1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8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12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9795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57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950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79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14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4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6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rowing empty plastic bottle into the rubbish">
            <a:extLst>
              <a:ext uri="{FF2B5EF4-FFF2-40B4-BE49-F238E27FC236}">
                <a16:creationId xmlns:a16="http://schemas.microsoft.com/office/drawing/2014/main" id="{F27DB616-F157-D80D-4DE8-DC299E4280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34" r="34083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5422" y="1678665"/>
            <a:ext cx="2915879" cy="2372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200" dirty="0"/>
              <a:t>Smart Waste Bin Project </a:t>
            </a:r>
            <a:endParaRPr lang="en-GR" sz="4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5881" y="4050833"/>
            <a:ext cx="3149621" cy="109689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1200" b="1" u="sng" dirty="0">
                <a:solidFill>
                  <a:schemeClr val="tx1"/>
                </a:solidFill>
              </a:rPr>
              <a:t>Team 10</a:t>
            </a:r>
          </a:p>
          <a:p>
            <a:pPr>
              <a:lnSpc>
                <a:spcPct val="90000"/>
              </a:lnSpc>
            </a:pPr>
            <a:r>
              <a:rPr lang="en-GB" sz="1200" b="1" dirty="0">
                <a:solidFill>
                  <a:schemeClr val="tx1"/>
                </a:solidFill>
              </a:rPr>
              <a:t>Vasileios Banakos - up1100950</a:t>
            </a:r>
          </a:p>
          <a:p>
            <a:pPr>
              <a:lnSpc>
                <a:spcPct val="90000"/>
              </a:lnSpc>
            </a:pPr>
            <a:r>
              <a:rPr lang="en-GB" sz="1200" b="1" dirty="0">
                <a:solidFill>
                  <a:schemeClr val="tx1"/>
                </a:solidFill>
              </a:rPr>
              <a:t>Charalampos Papadopoulos - up1104662</a:t>
            </a:r>
          </a:p>
          <a:p>
            <a:pPr>
              <a:lnSpc>
                <a:spcPct val="90000"/>
              </a:lnSpc>
            </a:pPr>
            <a:r>
              <a:rPr lang="en-GB" sz="1200" b="1" dirty="0">
                <a:solidFill>
                  <a:schemeClr val="tx1"/>
                </a:solidFill>
              </a:rPr>
              <a:t>Ioanna Trochatou - up1101103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59243"/>
            <a:ext cx="6347714" cy="5239265"/>
          </a:xfrm>
        </p:spPr>
        <p:txBody>
          <a:bodyPr>
            <a:normAutofit/>
          </a:bodyPr>
          <a:lstStyle/>
          <a:p>
            <a:r>
              <a:rPr dirty="0"/>
              <a:t>Our Proposal</a:t>
            </a:r>
          </a:p>
          <a:p>
            <a:pPr lvl="1"/>
            <a:r>
              <a:rPr lang="en-US" dirty="0"/>
              <a:t>We want to create a Smart Waste Bin system that is monitored in real-time. </a:t>
            </a:r>
          </a:p>
          <a:p>
            <a:pPr lvl="1"/>
            <a:r>
              <a:rPr lang="en-US" dirty="0"/>
              <a:t>It will help with the problems of overflowing bins and unnecessary cleaning routes, because it offers waste management.</a:t>
            </a:r>
            <a:endParaRPr lang="en-GR" dirty="0"/>
          </a:p>
          <a:p>
            <a:r>
              <a:rPr lang="en-GR" dirty="0"/>
              <a:t>Hardware Setup</a:t>
            </a:r>
          </a:p>
          <a:p>
            <a:pPr lvl="1"/>
            <a:r>
              <a:rPr lang="en-GB" dirty="0"/>
              <a:t>PIR Sensor (HC-SR501)</a:t>
            </a:r>
          </a:p>
          <a:p>
            <a:pPr lvl="1"/>
            <a:r>
              <a:rPr lang="en-GB" dirty="0"/>
              <a:t>Raspberry Pi 5</a:t>
            </a:r>
          </a:p>
          <a:p>
            <a:pPr lvl="1"/>
            <a:r>
              <a:rPr lang="en-GB" dirty="0"/>
              <a:t>Waste Bin</a:t>
            </a:r>
          </a:p>
          <a:p>
            <a:r>
              <a:rPr lang="en-GR" dirty="0"/>
              <a:t>Wiring</a:t>
            </a:r>
          </a:p>
          <a:p>
            <a:pPr lvl="1"/>
            <a:r>
              <a:rPr lang="en-GB" b="1" dirty="0"/>
              <a:t>VCC:</a:t>
            </a:r>
            <a:r>
              <a:rPr lang="en-GB" dirty="0"/>
              <a:t> Connected to </a:t>
            </a:r>
            <a:r>
              <a:rPr lang="en-GB" b="1" dirty="0"/>
              <a:t>5V</a:t>
            </a:r>
            <a:r>
              <a:rPr lang="en-GB" dirty="0"/>
              <a:t> (Physical Pin 2)</a:t>
            </a:r>
          </a:p>
          <a:p>
            <a:pPr lvl="1"/>
            <a:r>
              <a:rPr lang="en-GB" b="1" dirty="0"/>
              <a:t>GND:</a:t>
            </a:r>
            <a:r>
              <a:rPr lang="en-GB" dirty="0"/>
              <a:t> Connected to </a:t>
            </a:r>
            <a:r>
              <a:rPr lang="en-GB" b="1" dirty="0"/>
              <a:t>GND</a:t>
            </a:r>
            <a:r>
              <a:rPr lang="en-GB" dirty="0"/>
              <a:t> (Physical Pin 6)</a:t>
            </a:r>
          </a:p>
          <a:p>
            <a:pPr lvl="1"/>
            <a:r>
              <a:rPr lang="en-GB" b="1" dirty="0"/>
              <a:t>OUT:</a:t>
            </a:r>
            <a:r>
              <a:rPr lang="en-GB" dirty="0"/>
              <a:t> Connected to </a:t>
            </a:r>
            <a:r>
              <a:rPr lang="en-GB" b="1" dirty="0"/>
              <a:t>GPIO </a:t>
            </a:r>
            <a:r>
              <a:rPr lang="en-GB" b="1"/>
              <a:t>18 </a:t>
            </a:r>
            <a:r>
              <a:rPr lang="en-GB"/>
              <a:t>(</a:t>
            </a:r>
            <a:r>
              <a:rPr lang="en-GB" dirty="0"/>
              <a:t>Physical </a:t>
            </a:r>
            <a:r>
              <a:rPr lang="en-GB"/>
              <a:t>Pin 12)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Edge Intelligence: Filtering sensor 'noise' locally at the bin (debouncing) to prevent transmitting redundant data.</a:t>
            </a:r>
          </a:p>
          <a:p>
            <a:r>
              <a:t>Data Resilience: Simultaneous local storage (JSONL) and remote transmission (MQTT) to ensure zero data loss.</a:t>
            </a:r>
          </a:p>
          <a:p>
            <a:r>
              <a:t>Modularity: Separation of concerns by implementing the Publisher-Subscriber pattern.</a:t>
            </a:r>
          </a:p>
          <a:p>
            <a:r>
              <a:t>Semantic Interoperability: System modeling (creating a Digital Twin) using Web Ontologies (JSON-LD).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Architecture: Hardware &amp;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Hardware: Raspberry Pi 4/5 connected to an HC-SR501 (PIR) motion sensor.</a:t>
            </a:r>
          </a:p>
          <a:p>
            <a:r>
              <a:t>The Pipeline (Milestone 3):</a:t>
            </a:r>
          </a:p>
          <a:p>
            <a:pPr lvl="1"/>
            <a:r>
              <a:t>Sampler: Reads raw, high-frequency data from the GPIO pin.</a:t>
            </a:r>
          </a:p>
          <a:p>
            <a:pPr lvl="1"/>
            <a:r>
              <a:t>Interpreter: Applies a 5-second cooldown logic to distinguish actual waste disposal events from prolonged movement.</a:t>
            </a:r>
          </a:p>
          <a:p>
            <a:r>
              <a:t>Local Logging: Automatic recording of every event (Timestamp, Sequence ID, CPU Temp) to an offline .jsonl file on the Edge Node.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Architecture: Network &amp;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Middleware (MQTT): Powered by a Mosquitto Broker. The Raspberry Pi acts purely as the Producer, and the Laptop as the Consumer.</a:t>
            </a:r>
          </a:p>
          <a:p>
            <a:r>
              <a:t>The Dashboard: A custom Graphical User Interface (GUI) built with Tkinter.</a:t>
            </a:r>
          </a:p>
          <a:p>
            <a:r>
              <a:t>Live Analytics:</a:t>
            </a:r>
          </a:p>
          <a:p>
            <a:pPr lvl="1"/>
            <a:r>
              <a:t>Real-time Matplotlib charts (Inter-event delays, Hourly Usage Heatmap).</a:t>
            </a:r>
          </a:p>
          <a:p>
            <a:pPr lvl="1"/>
            <a:r>
              <a:t>Automated visual alerts if the disposal threshold is exceeded (e.g., &gt;10 events/hour).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Architecture: Semantic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Twin: Implementation of Milestone 5 using JSON-LD for Semantic Web integration.</a:t>
            </a:r>
          </a:p>
          <a:p>
            <a:r>
              <a:t>Ontologies Utilized:</a:t>
            </a:r>
          </a:p>
          <a:p>
            <a:pPr lvl="1"/>
            <a:r>
              <a:t>SOSA / SSN: To describe the PIR sensor capabilities and its specific observations.</a:t>
            </a:r>
          </a:p>
          <a:p>
            <a:pPr lvl="1"/>
            <a:r>
              <a:t>Schema.org: For defining physical bin characteristics (capacity, material, dimensions).</a:t>
            </a:r>
          </a:p>
          <a:p>
            <a:pPr lvl="1"/>
            <a:r>
              <a:t>BOT (Building Topology): To accurately map the bin's physical deployment location (KYPES Lab -&gt; HMTY Building).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established a fully functional IoT network (Sensor -&gt; Edge Node -&gt; MQTT Broker -&gt; GUI Dashboard).</a:t>
            </a:r>
          </a:p>
          <a:p>
            <a:r>
              <a:t>Demonstrated the value of Edge Computing by significantly reducing network payload through a custom Python filtering pipeline.</a:t>
            </a:r>
          </a:p>
          <a:p>
            <a:r>
              <a:t>Modeled the physical system with Semantic Web standards, ensuring the architecture is ready for broader Smart City integrations.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Containerization (Milestone 4): Wrapping the entire ecosystem (Broker, Publisher, Dashboard) into Docker Containers using docker-compose for streamlined deployment.</a:t>
            </a:r>
          </a:p>
          <a:p>
            <a:r>
              <a:t>Additional Sensors: Integrating an Ultrasonic Sensor (e.g., HC-SR04) to directly measure the physical fill level (%) alongside motion events.</a:t>
            </a:r>
          </a:p>
          <a:p>
            <a:r>
              <a:t>Cloud Integration &amp; ML: Connecting the telemetry stream to a time-series database (e.g., InfluxDB) for historical analysis and predictive maintenance using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</TotalTime>
  <Words>551</Words>
  <Application>Microsoft Macintosh PowerPoint</Application>
  <PresentationFormat>On-screen Show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Smart Waste Bin Project </vt:lpstr>
      <vt:lpstr>Problem Statement</vt:lpstr>
      <vt:lpstr>Project Objectives</vt:lpstr>
      <vt:lpstr>System Architecture: Hardware &amp; Edge</vt:lpstr>
      <vt:lpstr>System Architecture: Network &amp; GUI</vt:lpstr>
      <vt:lpstr>System Architecture: Semantic Data</vt:lpstr>
      <vt:lpstr>Conclusion</vt:lpstr>
      <vt:lpstr>Possible Extensions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ΤΡΟΧΑΤΟΥ ΙΩΑΝΝΑ</cp:lastModifiedBy>
  <cp:revision>3</cp:revision>
  <dcterms:created xsi:type="dcterms:W3CDTF">2013-01-27T09:14:16Z</dcterms:created>
  <dcterms:modified xsi:type="dcterms:W3CDTF">2026-04-26T10:08:18Z</dcterms:modified>
  <cp:category/>
</cp:coreProperties>
</file>